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431F"/>
                </a:solidFill>
                <a:latin typeface="Aptos"/>
              </a:defRPr>
            </a:pPr>
            <a:r>
              <a:t>SIH26128 · GOVT. OF MAHARASHTRA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7132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31C13"/>
                </a:solidFill>
                <a:latin typeface="Georgia"/>
              </a:defRPr>
            </a:pPr>
            <a:r>
              <a:t>See the outbreak</a:t>
            </a:r>
            <a:br/>
            <a:r>
              <a:t>before it spreads.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06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706253"/>
                </a:solidFill>
                <a:latin typeface="Aptos"/>
              </a:defRPr>
            </a:pPr>
            <a:r>
              <a:t>PashuSetu is the missing last-mile sensor layer for animal-disease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685800"/>
            <a:ext cx="3749039" cy="5166360"/>
          </a:xfrm>
          <a:prstGeom prst="roundRect">
            <a:avLst/>
          </a:prstGeom>
          <a:solidFill>
            <a:srgbClr val="231C13"/>
          </a:solidFill>
          <a:ln>
            <a:solidFill>
              <a:srgbClr val="231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1143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EE1BF"/>
                </a:solidFill>
                <a:latin typeface="Georgia"/>
              </a:defRPr>
            </a:pPr>
            <a:r>
              <a:t>पशुसेतू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C291"/>
                </a:solidFill>
                <a:latin typeface="Aptos"/>
              </a:defRPr>
            </a:pPr>
            <a:r>
              <a:t>FARMER → SIGNAL →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7889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Offline reports</a:t>
            </a:r>
            <a:br/>
            <a:r>
              <a:t>Explainable triage</a:t>
            </a:r>
            <a:br/>
            <a:r>
              <a:t>Dairy early warning</a:t>
            </a:r>
            <a:br/>
            <a:r>
              <a:t>Farmer-owned 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431F"/>
                </a:solidFill>
                <a:latin typeface="Aptos"/>
              </a:defRPr>
            </a:pPr>
            <a:r>
              <a:t>Preliminary triage, not a diagnosis — consult a veterinarian.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6253"/>
                </a:solidFill>
                <a:latin typeface="Aptos"/>
              </a:defRPr>
            </a:pPr>
            <a:r>
              <a:t>PashuSetu · SIH26128 · Synthetic prototype data clearly labelled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6253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1C13"/>
                </a:solidFill>
                <a:latin typeface="Georgia"/>
              </a:defRPr>
            </a:pPr>
            <a:r>
              <a:t>Maharashtra has systems — but no last-mile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706253"/>
                </a:solidFill>
                <a:latin typeface="Aptos"/>
              </a:defRPr>
            </a:pPr>
            <a:r>
              <a:t>Reports arrive late; fragmented records and low connectivity delay containment.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0440" cy="205740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093976"/>
            <a:ext cx="411480" cy="411480"/>
          </a:xfrm>
          <a:prstGeom prst="ellipse">
            <a:avLst/>
          </a:prstGeom>
          <a:solidFill>
            <a:srgbClr val="A8431F"/>
          </a:solidFill>
          <a:ln>
            <a:solidFill>
              <a:srgbClr val="A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57984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075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Farmer signal is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514600"/>
            <a:ext cx="253288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NADRES forecasts top-down. Farmers and field workers need a fast offline and voice-first reporting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520440" cy="205740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093976"/>
            <a:ext cx="411480" cy="411480"/>
          </a:xfrm>
          <a:prstGeom prst="ellipse">
            <a:avLst/>
          </a:prstGeom>
          <a:solidFill>
            <a:srgbClr val="B98523"/>
          </a:solidFill>
          <a:ln>
            <a:solidFill>
              <a:srgbClr val="B98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57984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75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Data stays fragmented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514600"/>
            <a:ext cx="253288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Animal identity, symptoms, vaccination, samples and district action do not share one real-time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74519"/>
            <a:ext cx="3520440" cy="205740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57032" y="2093976"/>
            <a:ext cx="411480" cy="411480"/>
          </a:xfrm>
          <a:prstGeom prst="ellipse">
            <a:avLst/>
          </a:prstGeom>
          <a:solidFill>
            <a:srgbClr val="71834B"/>
          </a:solidFill>
          <a:ln>
            <a:solidFill>
              <a:srgbClr val="71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157984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075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Prediction starts too 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2514600"/>
            <a:ext cx="253288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Milk-yield and wearable changes can lead obvious clinical signs, but are not connected to surveillance.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343400"/>
            <a:ext cx="10972800" cy="1097280"/>
          </a:xfrm>
          <a:prstGeom prst="roundRect">
            <a:avLst/>
          </a:prstGeom>
          <a:solidFill>
            <a:srgbClr val="F3E1D7"/>
          </a:solidFill>
          <a:ln>
            <a:solidFill>
              <a:srgbClr val="E8B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431F"/>
                </a:solidFill>
                <a:latin typeface="Georgia"/>
              </a:defRPr>
            </a:pPr>
            <a:r>
              <a:t>Our wedge: connect the farmer, the milk and the herd to the officer’s existing workflow — not replace NADRES or Bharat Pashudhan.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6253"/>
                </a:solidFill>
                <a:latin typeface="Aptos"/>
              </a:defRPr>
            </a:pPr>
            <a:r>
              <a:t>PashuSetu · SIH26128 · Synthetic prototype data clearly labelled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625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1C13"/>
                </a:solidFill>
                <a:latin typeface="Georgia"/>
              </a:defRPr>
            </a:pPr>
            <a:r>
              <a:t>One secure pipeline, three early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24612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148840"/>
            <a:ext cx="201168" cy="201168"/>
          </a:xfrm>
          <a:prstGeom prst="ellipse">
            <a:avLst/>
          </a:prstGeom>
          <a:solidFill>
            <a:srgbClr val="A8431F"/>
          </a:solidFill>
          <a:ln>
            <a:solidFill>
              <a:srgbClr val="A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1C13"/>
                </a:solidFill>
                <a:latin typeface="Aptos"/>
              </a:defRPr>
            </a:pPr>
            <a:r>
              <a:t>Farmer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957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Offline app · Marathi/Hindi/English · WhatsApp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324612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0" y="2148840"/>
            <a:ext cx="201168" cy="201168"/>
          </a:xfrm>
          <a:prstGeom prst="ellipse">
            <a:avLst/>
          </a:prstGeom>
          <a:solidFill>
            <a:srgbClr val="B98523"/>
          </a:solidFill>
          <a:ln>
            <a:solidFill>
              <a:srgbClr val="B98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1C13"/>
                </a:solidFill>
                <a:latin typeface="Aptos"/>
              </a:defRPr>
            </a:pPr>
            <a:r>
              <a:t>Dairy aggregate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957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Weather-adjusted two-day milk-yield anomaly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28800"/>
            <a:ext cx="324612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79" y="2148840"/>
            <a:ext cx="201168" cy="201168"/>
          </a:xfrm>
          <a:prstGeom prst="ellipse">
            <a:avLst/>
          </a:prstGeom>
          <a:solidFill>
            <a:srgbClr val="71834B"/>
          </a:solidFill>
          <a:ln>
            <a:solidFill>
              <a:srgbClr val="71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1C13"/>
                </a:solidFill>
                <a:latin typeface="Aptos"/>
              </a:defRPr>
            </a:pPr>
            <a:r>
              <a:t>Farmer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9572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Private baseline · herd-concurrency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015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431F"/>
                </a:solidFill>
                <a:latin typeface="Aptos"/>
              </a:defRPr>
            </a:pPr>
            <a:r>
              <a:t>VALIDATE  →  EXPLAINABLE TRIAGE  →  GEO/TIME CLUSTER  →  RIGHT 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3886200"/>
            <a:ext cx="8046720" cy="1417320"/>
          </a:xfrm>
          <a:prstGeom prst="roundRect">
            <a:avLst/>
          </a:prstGeom>
          <a:solidFill>
            <a:srgbClr val="231C13"/>
          </a:solidFill>
          <a:ln>
            <a:solidFill>
              <a:srgbClr val="231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420624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Farmer sees their animal. Officer sees the district pattern.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66344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ACEBE"/>
                </a:solidFill>
                <a:latin typeface="Aptos"/>
              </a:defRPr>
            </a:pPr>
            <a:r>
              <a:t>Raw sensor data never becomes a public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6253"/>
                </a:solidFill>
                <a:latin typeface="Aptos"/>
              </a:defRPr>
            </a:pPr>
            <a:r>
              <a:t>PashuSetu · SIH26128 · Synthetic prototype data clearly labelled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625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DEFENSIBLE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1C13"/>
                </a:solidFill>
                <a:latin typeface="Georgia"/>
              </a:defRPr>
            </a:pPr>
            <a:r>
              <a:t>Not another report-and-heatmap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530352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2002536"/>
            <a:ext cx="411480" cy="411480"/>
          </a:xfrm>
          <a:prstGeom prst="ellipse">
            <a:avLst/>
          </a:prstGeom>
          <a:solidFill>
            <a:srgbClr val="B98523"/>
          </a:solidFill>
          <a:ln>
            <a:solidFill>
              <a:srgbClr val="B98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66543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8424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Covariate-adjusted milk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423160"/>
            <a:ext cx="431596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12-week weekday median + robust MAD; removes heat, humidity and rainfall; requires &lt; −2.5σ for two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0352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2002536"/>
            <a:ext cx="411480" cy="411480"/>
          </a:xfrm>
          <a:prstGeom prst="ellipse">
            <a:avLst/>
          </a:prstGeom>
          <a:solidFill>
            <a:srgbClr val="71834B"/>
          </a:solidFill>
          <a:ln>
            <a:solidFill>
              <a:srgbClr val="71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066543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198424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Correct offline 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2423160"/>
            <a:ext cx="431596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Client UUID, ordered crash-safe queue and idempotent inserts prevent duplicates and 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46120"/>
            <a:ext cx="530352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3465576"/>
            <a:ext cx="411480" cy="411480"/>
          </a:xfrm>
          <a:prstGeom prst="ellipse">
            <a:avLst/>
          </a:prstGeom>
          <a:solidFill>
            <a:srgbClr val="A8431F"/>
          </a:solidFill>
          <a:ln>
            <a:solidFill>
              <a:srgbClr val="A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529584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44728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Explainable differential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886200"/>
            <a:ext cx="431596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Top candidates show matched/missed signs, priors, urgency and mandatory safety disclaimer.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46120"/>
            <a:ext cx="530352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3368" y="3465576"/>
            <a:ext cx="411480" cy="411480"/>
          </a:xfrm>
          <a:prstGeom prst="ellipse">
            <a:avLst/>
          </a:prstGeom>
          <a:solidFill>
            <a:srgbClr val="486E78"/>
          </a:solidFill>
          <a:ln>
            <a:solidFill>
              <a:srgbClr val="48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529584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344728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The herd reports itself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3886200"/>
            <a:ext cx="431596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Per-animal baselines + heat control + multi-animal concurrence create private signals before escalation.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31C13"/>
                </a:solidFill>
                <a:latin typeface="Georgia"/>
              </a:defRPr>
            </a:pPr>
            <a:r>
              <a:t>Officer confirm/reject closes the safety loop and becomes labelled evidence for future model versions.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6253"/>
                </a:solidFill>
                <a:latin typeface="Aptos"/>
              </a:defRPr>
            </a:pPr>
            <a:r>
              <a:t>PashuSetu · SIH26128 · Synthetic prototype data clearly labelled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625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1C13"/>
                </a:solidFill>
                <a:latin typeface="Georgia"/>
              </a:defRPr>
            </a:pPr>
            <a:r>
              <a:t>One loop from weak signal to containment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691640" cy="19202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17627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1C13"/>
                </a:solidFill>
                <a:latin typeface="Aptos"/>
              </a:defRPr>
            </a:pPr>
            <a:r>
              <a:t>Milk dip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Field verify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965960"/>
            <a:ext cx="1691640" cy="19202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217627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1C13"/>
                </a:solidFill>
                <a:latin typeface="Aptos"/>
              </a:defRPr>
            </a:pPr>
            <a:r>
              <a:t>Sensor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Private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65960"/>
            <a:ext cx="1691640" cy="19202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17627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1C13"/>
                </a:solidFill>
                <a:latin typeface="Aptos"/>
              </a:defRPr>
            </a:pPr>
            <a:r>
              <a:t>Farmer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Offline/voice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65960"/>
            <a:ext cx="1691640" cy="19202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17627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1C13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Reasons shown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965960"/>
            <a:ext cx="1691640" cy="19202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17627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1C13"/>
                </a:solidFill>
                <a:latin typeface="Aptos"/>
              </a:defRPr>
            </a:pPr>
            <a:r>
              <a:t>Cluster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District alert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1965960"/>
            <a:ext cx="1691640" cy="192024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2" y="217627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8712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1C13"/>
                </a:solidFill>
                <a:latin typeface="Aptos"/>
              </a:defRPr>
            </a:pPr>
            <a:r>
              <a:t>Case +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8712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06253"/>
                </a:solidFill>
                <a:latin typeface="Aptos"/>
              </a:defRPr>
            </a:pPr>
            <a:r>
              <a:t>Contained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074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8431F"/>
                </a:solidFill>
                <a:latin typeface="Aptos"/>
              </a:defRPr>
            </a:pPr>
            <a:r>
              <a:t>Live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1C13"/>
                </a:solidFill>
                <a:latin typeface="Aptos"/>
              </a:defRPr>
            </a:pPr>
            <a:r>
              <a:t>Next.js PWA · Supabase/PostGIS/RLS · Realtime · deterministic triage · Open-Meteo · production-shaped sensor ingest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06253"/>
                </a:solidFill>
                <a:latin typeface="Aptos"/>
              </a:defRPr>
            </a:pPr>
            <a:r>
              <a:t>₹0 prototype infrastructure · free-tier stack · real hardware swaps into the same JSON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6253"/>
                </a:solidFill>
                <a:latin typeface="Aptos"/>
              </a:defRPr>
            </a:pPr>
            <a:r>
              <a:t>PashuSetu · SIH26128 · Synthetic prototype data clearly labelled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625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431F"/>
                </a:solidFill>
                <a:latin typeface="Aptos"/>
              </a:defRPr>
            </a:pPr>
            <a:r>
              <a:t>IMPACT +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1C13"/>
                </a:solidFill>
                <a:latin typeface="Georgia"/>
              </a:defRPr>
            </a:pPr>
            <a:r>
              <a:t>Pilot one district. Prove earlier verification. Scale through existing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3474720" cy="201168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2002536"/>
            <a:ext cx="411480" cy="411480"/>
          </a:xfrm>
          <a:prstGeom prst="ellipse">
            <a:avLst/>
          </a:prstGeom>
          <a:solidFill>
            <a:srgbClr val="A8431F"/>
          </a:solidFill>
          <a:ln>
            <a:solidFill>
              <a:srgbClr val="A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66543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842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423160"/>
            <a:ext cx="248716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Partner with one Raigad dairy network + district veterinary office. Measure time from first signal to field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201168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4568" y="2002536"/>
            <a:ext cx="411480" cy="411480"/>
          </a:xfrm>
          <a:prstGeom prst="ellipse">
            <a:avLst/>
          </a:prstGeom>
          <a:solidFill>
            <a:srgbClr val="71834B"/>
          </a:solidFill>
          <a:ln>
            <a:solidFill>
              <a:srgbClr val="718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66543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19842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423160"/>
            <a:ext cx="248716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Track false alerts, sensitivity, farmer completion, officer response and confirmed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83080"/>
            <a:ext cx="3474720" cy="2011680"/>
          </a:xfrm>
          <a:prstGeom prst="roundRect">
            <a:avLst/>
          </a:prstGeom>
          <a:solidFill>
            <a:srgbClr val="FFFDF8"/>
          </a:solidFill>
          <a:ln>
            <a:solidFill>
              <a:srgbClr val="DDD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3608" y="2002536"/>
            <a:ext cx="411480" cy="411480"/>
          </a:xfrm>
          <a:prstGeom prst="ellipse">
            <a:avLst/>
          </a:prstGeom>
          <a:solidFill>
            <a:srgbClr val="B98523"/>
          </a:solidFill>
          <a:ln>
            <a:solidFill>
              <a:srgbClr val="B98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66543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198424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1C13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2423160"/>
            <a:ext cx="248716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6253"/>
                </a:solidFill>
                <a:latin typeface="Aptos"/>
              </a:defRPr>
            </a:pPr>
            <a:r>
              <a:t>Import Bharat Pashudhan Tag ID; export NADRS-format reports; expand district by district.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10972800" cy="1005840"/>
          </a:xfrm>
          <a:prstGeom prst="roundRect">
            <a:avLst/>
          </a:prstGeom>
          <a:solidFill>
            <a:srgbClr val="F3E1D7"/>
          </a:solidFill>
          <a:ln>
            <a:solidFill>
              <a:srgbClr val="E8B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25696"/>
            <a:ext cx="10332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8431F"/>
                </a:solidFill>
                <a:latin typeface="Georgia"/>
              </a:defRPr>
            </a:pPr>
            <a:r>
              <a:t>Ask: pilot access to anonymised village dairy aggregates, field validation and district workflow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961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6253"/>
                </a:solidFill>
                <a:latin typeface="Aptos"/>
              </a:defRPr>
            </a:pPr>
            <a:r>
              <a:t>Safety: decision support only · veterinarian confirmation · DPDP-aware access controls · synthetic prototype data disclosed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6253"/>
                </a:solidFill>
                <a:latin typeface="Aptos"/>
              </a:defRPr>
            </a:pPr>
            <a:r>
              <a:t>PashuSetu · SIH26128 · Synthetic prototype data clearly labelled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70625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